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5A08-0F11-B24C-C280-796422AB5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E8130-8E19-3533-EAA8-41F7AA6597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928F8-820D-1B63-D4F7-2E4B7A01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83A75-D4F8-5F25-9EE0-9111672E8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98FC1-3984-F017-FECA-1DA88FFA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5841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5C5D-1DAE-82FD-2972-5FD9CAA8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2AE0-BC78-3DBC-7A4C-CB9D67121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F623A-4C88-46A8-8D52-04F06C72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D417C-44ED-B9BF-31DB-36607862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2F3E8-7EB7-479F-1F12-5CDB3E2D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1663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70BF-F1A1-42C9-B468-869E7B645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BDCB8-3F46-68A8-1711-E658A06C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E330C-1E1C-5581-85F5-E09EDAED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56813-A1A1-E541-EB60-2EFB85CE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38AA-34B8-66E7-41EB-C9346AF5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3761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8CF24-634E-031D-C5C7-817775F1D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3D43-14DC-AC04-9CBB-02E76F81E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EF5A2-88C1-D4C0-2F52-B7628CA8D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800BE-34B2-486E-20F0-C1BE53E1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373A6-8524-1558-589D-0BA39860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5309A-CCA0-36FB-9117-6A561227D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6725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A494-3D53-819B-E7A1-D2AC103DF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074C3-E1D4-3402-8D6B-2AC98E741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6CD00-AB84-B683-E256-9D36E58A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0EE73-8708-4AE4-73AC-1A6D84C44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D0F82-1BD8-EEF7-8B65-3A3CF536F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92411-B450-346D-5994-7434AA37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90929-57E2-9179-2D7A-8EBA32D4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4BDDA7-630B-2664-49F4-04D806C3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0654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35B47-D3CE-2C20-D798-7714D6D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805B6B-622E-4E3B-93B8-F05633200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E493A-BC47-72C8-69E9-78F28E68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C2C37-2881-3219-83CC-1D7B8E79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409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179B4-AA15-6AC8-EBF1-4A74CA7ED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DB466-CAA1-E4FF-45EE-BA2BA962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31DD6-A1AC-48A4-54F4-F636666D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584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5F14-5810-4F3A-0639-B15B1374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A69A1-DD45-8540-609A-453EBE61D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714E1-94A1-6F9F-860C-23D25A575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1B63F-44AB-0113-399A-A2F12425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27AED-B036-C365-DB6F-7EC31E11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AFBB5-DCB4-3CEE-DAE4-5CD80A7B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1896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C0B9-17E3-9EAD-952C-8BC2E35B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79932-FF42-BAB4-949A-247CF1DDEB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59BBB-9FE2-839C-273A-3FFA41E83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BE6A3-07E1-2FBA-FF40-6C03ACF61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777C8-5C43-95BF-D671-B6791F64B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FB4BA-2D7B-7D67-777F-86294894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917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573D-936E-02D1-FD8A-39CB404C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56951-8ABB-2238-8B8C-8C03DEE8F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EFC19-9B54-A047-5C62-5AC98EEF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5F8ED-7427-EC61-CDE5-EE42229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16477-4FE4-16E5-7377-91D3E118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9868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E3778-D9A9-94F1-87BE-C9D1EAE8C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11328-9D0E-20C4-1D94-EB9C980D6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B3A3-2C46-7686-AD1A-5C8E86FD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F1A9F-145D-F591-40EF-D835264A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84A5-2247-1C75-B1C1-738AC5BA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8726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BD8F2-093E-8ACF-4952-72E2C311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96CEA-5172-04A9-124D-D18C6D1AA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4786E-5B35-DC97-070C-B1CCA7427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8059E-E6CA-4899-87DC-63E4FC5F3BD6}" type="datetimeFigureOut">
              <a:rPr lang="ro-RO" smtClean="0"/>
              <a:t>05.01.2026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C073C-5502-0D67-4D83-8CF62CF40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41525-121F-AF93-FEC5-3F466B652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ED83D-9074-41EB-A70D-8AE11894C926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2118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B653-A2B5-6025-6AAF-C4DAD1DD9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ro-RO" sz="3600" dirty="0">
                <a:solidFill>
                  <a:schemeClr val="bg1"/>
                </a:solidFill>
              </a:rPr>
              <a:t>Generarea cifrelor scrise de mână folosind GAN și </a:t>
            </a:r>
            <a:r>
              <a:rPr lang="ro-RO" sz="3600" dirty="0" err="1">
                <a:solidFill>
                  <a:schemeClr val="bg1"/>
                </a:solidFill>
              </a:rPr>
              <a:t>Conditional</a:t>
            </a:r>
            <a:r>
              <a:rPr lang="ro-RO" sz="3600" dirty="0">
                <a:solidFill>
                  <a:schemeClr val="bg1"/>
                </a:solidFill>
              </a:rPr>
              <a:t> GAN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358AA-50C5-44CB-283D-2F45097FE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4350"/>
            <a:ext cx="9144000" cy="220345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Dunarintu Dragos-Gabriel</a:t>
            </a:r>
          </a:p>
          <a:p>
            <a:r>
              <a:rPr lang="ro-RO" sz="2800" dirty="0">
                <a:solidFill>
                  <a:schemeClr val="bg1"/>
                </a:solidFill>
              </a:rPr>
              <a:t>Specializare</a:t>
            </a:r>
            <a:r>
              <a:rPr lang="en-GB" sz="2800" dirty="0">
                <a:solidFill>
                  <a:schemeClr val="bg1"/>
                </a:solidFill>
              </a:rPr>
              <a:t>: </a:t>
            </a:r>
            <a:r>
              <a:rPr lang="en-GB" sz="2800" dirty="0" err="1">
                <a:solidFill>
                  <a:schemeClr val="bg1"/>
                </a:solidFill>
              </a:rPr>
              <a:t>Inginerie</a:t>
            </a:r>
            <a:r>
              <a:rPr lang="en-GB" sz="2800" dirty="0">
                <a:solidFill>
                  <a:schemeClr val="bg1"/>
                </a:solidFill>
              </a:rPr>
              <a:t> Software</a:t>
            </a:r>
          </a:p>
          <a:p>
            <a:r>
              <a:rPr lang="en-GB" sz="2800" dirty="0">
                <a:solidFill>
                  <a:schemeClr val="bg1"/>
                </a:solidFill>
              </a:rPr>
              <a:t>2025-2026</a:t>
            </a:r>
            <a:endParaRPr lang="ro-RO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921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F3B5-20FF-D0A2-CBC0-D9E4E873A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4363"/>
            <a:ext cx="9144000" cy="102393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Motivația proiectului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689FD-75CB-40E9-70EF-96FADA7BB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36700"/>
            <a:ext cx="9144000" cy="41275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Modelele generative </a:t>
            </a:r>
            <a:r>
              <a:rPr lang="en-GB" dirty="0">
                <a:solidFill>
                  <a:schemeClr val="bg1"/>
                </a:solidFill>
              </a:rPr>
              <a:t>au un </a:t>
            </a:r>
            <a:r>
              <a:rPr lang="en-GB" dirty="0" err="1">
                <a:solidFill>
                  <a:schemeClr val="bg1"/>
                </a:solidFill>
              </a:rPr>
              <a:t>rol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ro-RO" dirty="0">
                <a:solidFill>
                  <a:schemeClr val="bg1"/>
                </a:solidFill>
              </a:rPr>
              <a:t>important în </a:t>
            </a:r>
            <a:r>
              <a:rPr lang="ro-RO" dirty="0" err="1">
                <a:solidFill>
                  <a:schemeClr val="bg1"/>
                </a:solidFill>
              </a:rPr>
              <a:t>DeepLearning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Generarea de date sintetice ajută la: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augmentarea seturilor de date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testarea sistemelor de recunoaștere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înțelegerea distribuțiilor de date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Cifrele scrise de mână reprezintă un caz de studiu clasic și bine documentat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dirty="0">
                <a:solidFill>
                  <a:schemeClr val="bg1"/>
                </a:solidFill>
              </a:rPr>
              <a:t>MNIST este un </a:t>
            </a:r>
            <a:r>
              <a:rPr lang="ro-RO" dirty="0" err="1">
                <a:solidFill>
                  <a:schemeClr val="bg1"/>
                </a:solidFill>
              </a:rPr>
              <a:t>benchmark</a:t>
            </a:r>
            <a:r>
              <a:rPr lang="ro-RO" dirty="0">
                <a:solidFill>
                  <a:schemeClr val="bg1"/>
                </a:solidFill>
              </a:rPr>
              <a:t> standard pentru evaluarea modelelor generative</a:t>
            </a:r>
          </a:p>
        </p:txBody>
      </p:sp>
    </p:spTree>
    <p:extLst>
      <p:ext uri="{BB962C8B-B14F-4D97-AF65-F5344CB8AC3E}">
        <p14:creationId xmlns:p14="http://schemas.microsoft.com/office/powerpoint/2010/main" val="418232454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9E562-F636-AE35-7103-01014825B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8488"/>
            <a:ext cx="9144000" cy="113188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Problema abordată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9B411B-F21C-6A31-6534-C267410A16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161738"/>
            <a:ext cx="95694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Generarea automată a cifrelor scrise de mână (0–9)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Provocări: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variația mare a stilurilor de scriere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Cifrele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pot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avea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forme neregulate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grosimi diferite ale trăsăturilor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Obiectiv: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generarea de imagini 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cat se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posibilitatea de a controla cifra generată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8670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C601-5A15-38D4-71ED-3C014985B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151"/>
            <a:ext cx="9144000" cy="13589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Ce </a:t>
            </a:r>
            <a:r>
              <a:rPr lang="en-GB" dirty="0" err="1">
                <a:solidFill>
                  <a:schemeClr val="bg1"/>
                </a:solidFill>
              </a:rPr>
              <a:t>reprezintă</a:t>
            </a:r>
            <a:r>
              <a:rPr lang="ro-RO" dirty="0">
                <a:solidFill>
                  <a:schemeClr val="bg1"/>
                </a:solidFill>
              </a:rPr>
              <a:t> GAN</a:t>
            </a:r>
            <a:r>
              <a:rPr lang="en-GB" dirty="0">
                <a:solidFill>
                  <a:schemeClr val="bg1"/>
                </a:solidFill>
              </a:rPr>
              <a:t>?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2D534D-60EF-78BD-1615-28D21988905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383988"/>
            <a:ext cx="99758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 = Generator + Discriminator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Generatorul creează imagini sintetice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Discriminatorul 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face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diferența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între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imaginile reale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si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cele false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Antrenare adversarială: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generatorul învață să păcălească discriminatorul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GAN-urile sunt eficiente pentru: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generare de imagini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învățarea distribuțiilor complexe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0912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34E0-236F-73F7-05B6-27352E10F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74701"/>
            <a:ext cx="9144000" cy="1498600"/>
          </a:xfrm>
        </p:spPr>
        <p:txBody>
          <a:bodyPr/>
          <a:lstStyle/>
          <a:p>
            <a:r>
              <a:rPr lang="ro-RO" dirty="0" err="1">
                <a:solidFill>
                  <a:schemeClr val="bg1"/>
                </a:solidFill>
              </a:rPr>
              <a:t>Conditional</a:t>
            </a:r>
            <a:r>
              <a:rPr lang="ro-RO" dirty="0">
                <a:solidFill>
                  <a:schemeClr val="bg1"/>
                </a:solidFill>
              </a:rPr>
              <a:t> GAN (</a:t>
            </a:r>
            <a:r>
              <a:rPr lang="ro-RO" dirty="0" err="1">
                <a:solidFill>
                  <a:schemeClr val="bg1"/>
                </a:solidFill>
              </a:rPr>
              <a:t>cGAN</a:t>
            </a:r>
            <a:r>
              <a:rPr lang="ro-RO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66B3D6-6288-DB63-F24D-8CC49C4496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65250" y="2797512"/>
            <a:ext cx="98869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Extensie a GAN-ului standard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Introduce condiționarea pe etichete (0–9)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Permite: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generarea 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de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cifre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 de la 0-9 in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ordine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control asupra rezultatului final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Etichetele sunt reprezentate prin vectori </a:t>
            </a:r>
            <a:r>
              <a:rPr kumimoji="0" lang="ro-RO" altLang="ro-RO" sz="18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one</a:t>
            </a:r>
            <a:r>
              <a:rPr kumimoji="0" lang="ro-RO" altLang="ro-RO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-hot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Generatorul și discriminatorul sunt condiționate simultan</a:t>
            </a:r>
          </a:p>
        </p:txBody>
      </p:sp>
    </p:spTree>
    <p:extLst>
      <p:ext uri="{BB962C8B-B14F-4D97-AF65-F5344CB8AC3E}">
        <p14:creationId xmlns:p14="http://schemas.microsoft.com/office/powerpoint/2010/main" val="190913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757B-7A2E-4B25-C6A0-7BBD0F212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7633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Arhitectura modelului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306F7F-2AF2-3C47-E2CF-569648194A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71700" y="2240340"/>
            <a:ext cx="868045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Arhitectură inspirată din DCGAN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Generator: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primește zgomot + etichetă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produce imagine 28×28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Discriminator: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primește imagine + etichetă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decide real / fals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Funcții de activare: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ReLU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LeakyReLU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Tanh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 ieșirea generatorului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46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1D11-A718-8D08-2AE1-6901C1A27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6603"/>
            <a:ext cx="9144000" cy="114458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Implementare software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F869B4-EC53-3F47-2E97-EF1749A32F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60450" y="1981190"/>
            <a:ext cx="103949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Limbaj: </a:t>
            </a: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Biblioteci utilizate: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DeepLearning4J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ND4J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Structură modulară: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DataLoader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Generator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Discriminator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GANModel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ConditionalGAN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LatentSpaceVisualizer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Cod organizat pentru reproductibilitate</a:t>
            </a:r>
          </a:p>
        </p:txBody>
      </p:sp>
    </p:spTree>
    <p:extLst>
      <p:ext uri="{BB962C8B-B14F-4D97-AF65-F5344CB8AC3E}">
        <p14:creationId xmlns:p14="http://schemas.microsoft.com/office/powerpoint/2010/main" val="27806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1863-B2CB-96DF-E8BB-BB8F601BA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648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Setul de date (MNIST)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BEF414-BCC2-135C-68AB-E11A6F3A86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525663"/>
            <a:ext cx="96710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MNIST –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Handwritten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Digits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70.000 imagini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grayscale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Dimensiune: 28×28 pixeli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Clase: cifrele 0–9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Datele au fost: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normalizate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împărțite în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/ test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standard pentru evaluarea modelelor generative</a:t>
            </a:r>
          </a:p>
        </p:txBody>
      </p:sp>
    </p:spTree>
    <p:extLst>
      <p:ext uri="{BB962C8B-B14F-4D97-AF65-F5344CB8AC3E}">
        <p14:creationId xmlns:p14="http://schemas.microsoft.com/office/powerpoint/2010/main" val="401195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D01CD-39C0-627E-636A-A1D20F72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Experiment 1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03C47-430A-EBFE-2AEA-64CBA7BF2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GAN Standard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A black and white pattern&#10;&#10;AI-generated content may be incorrect.">
            <a:extLst>
              <a:ext uri="{FF2B5EF4-FFF2-40B4-BE49-F238E27FC236}">
                <a16:creationId xmlns:a16="http://schemas.microsoft.com/office/drawing/2014/main" id="{B52A73C9-131B-F171-3450-6C6BD7DED1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181" y="3013869"/>
            <a:ext cx="2667000" cy="2667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E901A-7507-7589-9749-E928F77378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Conditional GAN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0" name="Content Placeholder 9" descr="A black and white rectangle with a white rectangle in the middle&#10;&#10;AI-generated content may be incorrect.">
            <a:extLst>
              <a:ext uri="{FF2B5EF4-FFF2-40B4-BE49-F238E27FC236}">
                <a16:creationId xmlns:a16="http://schemas.microsoft.com/office/drawing/2014/main" id="{DC2344FE-FE5E-4D2E-5B77-D9D7D818368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5801" y="2654300"/>
            <a:ext cx="3200400" cy="3276600"/>
          </a:xfrm>
        </p:spPr>
      </p:pic>
    </p:spTree>
    <p:extLst>
      <p:ext uri="{BB962C8B-B14F-4D97-AF65-F5344CB8AC3E}">
        <p14:creationId xmlns:p14="http://schemas.microsoft.com/office/powerpoint/2010/main" val="3502693453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5972-15D6-3008-66CF-327B4422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Experiment 2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B15B6-98E6-03EF-BC55-19B8B5E25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GAN-ul standard in </a:t>
            </a:r>
            <a:r>
              <a:rPr lang="en-GB" dirty="0" err="1">
                <a:solidFill>
                  <a:schemeClr val="bg1"/>
                </a:solidFill>
              </a:rPr>
              <a:t>urma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mai</a:t>
            </a:r>
            <a:r>
              <a:rPr lang="en-GB" dirty="0">
                <a:solidFill>
                  <a:schemeClr val="bg1"/>
                </a:solidFill>
              </a:rPr>
              <a:t>  </a:t>
            </a:r>
            <a:r>
              <a:rPr lang="en-GB" dirty="0" err="1">
                <a:solidFill>
                  <a:schemeClr val="bg1"/>
                </a:solidFill>
              </a:rPr>
              <a:t>multor</a:t>
            </a:r>
            <a:r>
              <a:rPr lang="en-GB" dirty="0">
                <a:solidFill>
                  <a:schemeClr val="bg1"/>
                </a:solidFill>
              </a:rPr>
              <a:t> teste </a:t>
            </a:r>
            <a:r>
              <a:rPr lang="en-GB" dirty="0" err="1">
                <a:solidFill>
                  <a:schemeClr val="bg1"/>
                </a:solidFill>
              </a:rPr>
              <a:t>incepuse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creeze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imagini</a:t>
            </a:r>
            <a:r>
              <a:rPr lang="en-GB" dirty="0">
                <a:solidFill>
                  <a:schemeClr val="bg1"/>
                </a:solidFill>
              </a:rPr>
              <a:t> care se </a:t>
            </a:r>
            <a:r>
              <a:rPr lang="en-GB" dirty="0" err="1">
                <a:solidFill>
                  <a:schemeClr val="bg1"/>
                </a:solidFill>
              </a:rPr>
              <a:t>apropiau</a:t>
            </a:r>
            <a:r>
              <a:rPr lang="en-GB" dirty="0">
                <a:solidFill>
                  <a:schemeClr val="bg1"/>
                </a:solidFill>
              </a:rPr>
              <a:t> de </a:t>
            </a:r>
            <a:r>
              <a:rPr lang="en-GB" dirty="0" err="1">
                <a:solidFill>
                  <a:schemeClr val="bg1"/>
                </a:solidFill>
              </a:rPr>
              <a:t>realitate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A black and white background&#10;&#10;AI-generated content may be incorrect.">
            <a:extLst>
              <a:ext uri="{FF2B5EF4-FFF2-40B4-BE49-F238E27FC236}">
                <a16:creationId xmlns:a16="http://schemas.microsoft.com/office/drawing/2014/main" id="{89389CD8-4AFB-CB6E-F179-18F8462B49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181" y="3013869"/>
            <a:ext cx="2667000" cy="2667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AD616-EA39-C106-FBDF-588145BDA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cGAN</a:t>
            </a:r>
            <a:r>
              <a:rPr lang="en-GB" dirty="0">
                <a:solidFill>
                  <a:schemeClr val="bg1"/>
                </a:solidFill>
              </a:rPr>
              <a:t>-ul </a:t>
            </a:r>
            <a:r>
              <a:rPr lang="en-GB" dirty="0" err="1">
                <a:solidFill>
                  <a:schemeClr val="bg1"/>
                </a:solidFill>
              </a:rPr>
              <a:t>prezinta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imagini</a:t>
            </a:r>
            <a:r>
              <a:rPr lang="en-GB" dirty="0">
                <a:solidFill>
                  <a:schemeClr val="bg1"/>
                </a:solidFill>
              </a:rPr>
              <a:t> cu </a:t>
            </a:r>
            <a:r>
              <a:rPr lang="en-GB" dirty="0" err="1">
                <a:solidFill>
                  <a:schemeClr val="bg1"/>
                </a:solidFill>
              </a:rPr>
              <a:t>cifre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mult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mai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clare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0" name="Content Placeholder 9" descr="A black and white image of a square&#10;&#10;AI-generated content may be incorrect.">
            <a:extLst>
              <a:ext uri="{FF2B5EF4-FFF2-40B4-BE49-F238E27FC236}">
                <a16:creationId xmlns:a16="http://schemas.microsoft.com/office/drawing/2014/main" id="{C009CBA4-6CC2-96E8-CEE3-7E48F95FB45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269" y="2743200"/>
            <a:ext cx="3637681" cy="2876550"/>
          </a:xfrm>
        </p:spPr>
      </p:pic>
    </p:spTree>
    <p:extLst>
      <p:ext uri="{BB962C8B-B14F-4D97-AF65-F5344CB8AC3E}">
        <p14:creationId xmlns:p14="http://schemas.microsoft.com/office/powerpoint/2010/main" val="144036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C479-2B17-B847-7474-BB5C3019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Experiment 3</a:t>
            </a:r>
            <a:endParaRPr lang="ro-RO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0BBA7-F858-5BCE-4A6D-2C179C2CA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GAN-ul standard la final </a:t>
            </a:r>
            <a:r>
              <a:rPr lang="en-GB" dirty="0" err="1">
                <a:solidFill>
                  <a:schemeClr val="bg1"/>
                </a:solidFill>
              </a:rPr>
              <a:t>prin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mai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multe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rulari</a:t>
            </a:r>
            <a:r>
              <a:rPr lang="en-GB" dirty="0">
                <a:solidFill>
                  <a:schemeClr val="bg1"/>
                </a:solidFill>
              </a:rPr>
              <a:t> a </a:t>
            </a:r>
            <a:r>
              <a:rPr lang="en-GB" dirty="0" err="1">
                <a:solidFill>
                  <a:schemeClr val="bg1"/>
                </a:solidFill>
              </a:rPr>
              <a:t>dat</a:t>
            </a:r>
            <a:r>
              <a:rPr lang="en-GB" dirty="0">
                <a:solidFill>
                  <a:schemeClr val="bg1"/>
                </a:solidFill>
              </a:rPr>
              <a:t> un  </a:t>
            </a:r>
            <a:r>
              <a:rPr lang="en-GB" dirty="0" err="1">
                <a:solidFill>
                  <a:schemeClr val="bg1"/>
                </a:solidFill>
              </a:rPr>
              <a:t>eșec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A black surface with white dots&#10;&#10;AI-generated content may be incorrect.">
            <a:extLst>
              <a:ext uri="{FF2B5EF4-FFF2-40B4-BE49-F238E27FC236}">
                <a16:creationId xmlns:a16="http://schemas.microsoft.com/office/drawing/2014/main" id="{7F25368F-F01B-4A8E-052A-3E076A5CBC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3006726"/>
            <a:ext cx="3454399" cy="258445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94231-EF13-B64D-8E31-C31F5B562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cGAN</a:t>
            </a:r>
            <a:r>
              <a:rPr lang="en-GB" dirty="0">
                <a:solidFill>
                  <a:schemeClr val="bg1"/>
                </a:solidFill>
              </a:rPr>
              <a:t>-ul a </a:t>
            </a:r>
            <a:r>
              <a:rPr lang="en-GB" dirty="0" err="1">
                <a:solidFill>
                  <a:schemeClr val="bg1"/>
                </a:solidFill>
              </a:rPr>
              <a:t>prezentat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imaginile</a:t>
            </a:r>
            <a:r>
              <a:rPr lang="en-GB" dirty="0">
                <a:solidFill>
                  <a:schemeClr val="bg1"/>
                </a:solidFill>
              </a:rPr>
              <a:t> in mod </a:t>
            </a:r>
            <a:r>
              <a:rPr lang="en-GB" dirty="0" err="1">
                <a:solidFill>
                  <a:schemeClr val="bg1"/>
                </a:solidFill>
              </a:rPr>
              <a:t>clar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chiar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dupa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mai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multe</a:t>
            </a:r>
            <a:r>
              <a:rPr lang="en-GB" dirty="0">
                <a:solidFill>
                  <a:schemeClr val="bg1"/>
                </a:solidFill>
              </a:rPr>
              <a:t> teste</a:t>
            </a:r>
            <a:endParaRPr lang="ro-RO" dirty="0">
              <a:solidFill>
                <a:schemeClr val="bg1"/>
              </a:solidFill>
            </a:endParaRPr>
          </a:p>
        </p:txBody>
      </p:sp>
      <p:pic>
        <p:nvPicPr>
          <p:cNvPr id="10" name="Content Placeholder 9" descr="A black and white square&#10;&#10;AI-generated content may be incorrect.">
            <a:extLst>
              <a:ext uri="{FF2B5EF4-FFF2-40B4-BE49-F238E27FC236}">
                <a16:creationId xmlns:a16="http://schemas.microsoft.com/office/drawing/2014/main" id="{6EF8F16C-7F3B-9708-F279-2B262AA2B48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300" y="3006726"/>
            <a:ext cx="3041650" cy="2584450"/>
          </a:xfrm>
        </p:spPr>
      </p:pic>
    </p:spTree>
    <p:extLst>
      <p:ext uri="{BB962C8B-B14F-4D97-AF65-F5344CB8AC3E}">
        <p14:creationId xmlns:p14="http://schemas.microsoft.com/office/powerpoint/2010/main" val="141136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088D-2E27-05D8-4F09-B4866F7E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00" y="495300"/>
            <a:ext cx="3932237" cy="889000"/>
          </a:xfrm>
        </p:spPr>
        <p:txBody>
          <a:bodyPr/>
          <a:lstStyle/>
          <a:p>
            <a:pPr algn="ctr"/>
            <a:r>
              <a:rPr lang="ro-RO" dirty="0">
                <a:solidFill>
                  <a:schemeClr val="bg1"/>
                </a:solidFill>
              </a:rPr>
              <a:t>Spațiul latent</a:t>
            </a:r>
          </a:p>
        </p:txBody>
      </p:sp>
      <p:pic>
        <p:nvPicPr>
          <p:cNvPr id="6" name="Content Placeholder 5" descr="A colorful lines and dots&#10;&#10;AI-generated content may be incorrect.">
            <a:extLst>
              <a:ext uri="{FF2B5EF4-FFF2-40B4-BE49-F238E27FC236}">
                <a16:creationId xmlns:a16="http://schemas.microsoft.com/office/drawing/2014/main" id="{291BA46A-89B8-DFAF-7222-C6F9F3C9F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788" y="1042987"/>
            <a:ext cx="5715000" cy="4762500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68EFB69-80AC-966A-2EF2-E1EECD51752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53639" y="1861335"/>
            <a:ext cx="467236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pațiul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latent reprezintă intrarea generatorului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Fiecare punct din spațiul latent corespunde unei imagini generate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Interpolarea între puncte produce tranziții line între cifre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Vizualizarea spațiului latent permite: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analiza structurii învățate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observarea </a:t>
            </a: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similarităților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dintre cifre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Rezultatele indică o organizare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care nu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putem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distinge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clar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unirea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liniilor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pentru</a:t>
            </a:r>
            <a:r>
              <a:rPr lang="en-GB" altLang="ro-RO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GB" altLang="ro-RO" sz="1800" dirty="0" err="1">
                <a:solidFill>
                  <a:schemeClr val="bg1"/>
                </a:solidFill>
                <a:latin typeface="Arial" panose="020B0604020202020204" pitchFamily="34" charset="0"/>
              </a:rPr>
              <a:t>distingerea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cifrelor</a:t>
            </a:r>
            <a:endParaRPr kumimoji="0" lang="en-GB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84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F855-3A91-3D48-9C9E-1731D97D2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7663"/>
            <a:ext cx="9144000" cy="110013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Limitări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515A0-9943-98E1-871F-0E4823E57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47800"/>
            <a:ext cx="9144000" cy="3810000"/>
          </a:xfrm>
        </p:spPr>
        <p:txBody>
          <a:bodyPr/>
          <a:lstStyle/>
          <a:p>
            <a:r>
              <a:rPr lang="en-GB" dirty="0" err="1">
                <a:solidFill>
                  <a:schemeClr val="bg1"/>
                </a:solidFill>
              </a:rPr>
              <a:t>Pentru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rularea</a:t>
            </a:r>
            <a:r>
              <a:rPr lang="en-GB" dirty="0">
                <a:solidFill>
                  <a:schemeClr val="bg1"/>
                </a:solidFill>
              </a:rPr>
              <a:t> de teste </a:t>
            </a:r>
            <a:r>
              <a:rPr lang="en-GB" dirty="0" err="1">
                <a:solidFill>
                  <a:schemeClr val="bg1"/>
                </a:solidFill>
              </a:rPr>
              <a:t>în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aplicație</a:t>
            </a:r>
            <a:r>
              <a:rPr lang="en-GB" dirty="0">
                <a:solidFill>
                  <a:schemeClr val="bg1"/>
                </a:solidFill>
              </a:rPr>
              <a:t>, nu am </a:t>
            </a:r>
            <a:r>
              <a:rPr lang="en-GB" dirty="0" err="1">
                <a:solidFill>
                  <a:schemeClr val="bg1"/>
                </a:solidFill>
              </a:rPr>
              <a:t>putut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folosi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decât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anumite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funcții</a:t>
            </a:r>
            <a:r>
              <a:rPr lang="en-GB" dirty="0">
                <a:solidFill>
                  <a:schemeClr val="bg1"/>
                </a:solidFill>
              </a:rPr>
              <a:t> cum </a:t>
            </a:r>
            <a:r>
              <a:rPr lang="en-GB" dirty="0" err="1">
                <a:solidFill>
                  <a:schemeClr val="bg1"/>
                </a:solidFill>
              </a:rPr>
              <a:t>ar</a:t>
            </a:r>
            <a:r>
              <a:rPr lang="en-GB" dirty="0">
                <a:solidFill>
                  <a:schemeClr val="bg1"/>
                </a:solidFill>
              </a:rPr>
              <a:t> fi: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Generator: Than, Sigmoid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Discriminator: Mish</a:t>
            </a:r>
          </a:p>
          <a:p>
            <a:r>
              <a:rPr lang="en-GB" dirty="0" err="1">
                <a:solidFill>
                  <a:schemeClr val="bg1"/>
                </a:solidFill>
              </a:rPr>
              <a:t>Unele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funcții</a:t>
            </a:r>
            <a:r>
              <a:rPr lang="en-GB" dirty="0">
                <a:solidFill>
                  <a:schemeClr val="bg1"/>
                </a:solidFill>
              </a:rPr>
              <a:t> nu au </a:t>
            </a:r>
            <a:r>
              <a:rPr lang="en-GB" dirty="0" err="1">
                <a:solidFill>
                  <a:schemeClr val="bg1"/>
                </a:solidFill>
              </a:rPr>
              <a:t>fost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utilizate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în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proiect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deoarece</a:t>
            </a:r>
            <a:r>
              <a:rPr lang="en-GB" dirty="0">
                <a:solidFill>
                  <a:schemeClr val="bg1"/>
                </a:solidFill>
              </a:rPr>
              <a:t> nu sunt </a:t>
            </a:r>
            <a:r>
              <a:rPr lang="en-GB" dirty="0" err="1">
                <a:solidFill>
                  <a:schemeClr val="bg1"/>
                </a:solidFill>
              </a:rPr>
              <a:t>recomandate</a:t>
            </a:r>
            <a:r>
              <a:rPr lang="en-GB" dirty="0">
                <a:solidFill>
                  <a:schemeClr val="bg1"/>
                </a:solidFill>
              </a:rPr>
              <a:t>, </a:t>
            </a:r>
            <a:r>
              <a:rPr lang="en-GB" dirty="0" err="1">
                <a:solidFill>
                  <a:schemeClr val="bg1"/>
                </a:solidFill>
              </a:rPr>
              <a:t>dqnd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erori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în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timpul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rulării</a:t>
            </a:r>
            <a:r>
              <a:rPr lang="en-GB" dirty="0">
                <a:solidFill>
                  <a:schemeClr val="bg1"/>
                </a:solidFill>
              </a:rPr>
              <a:t> cum </a:t>
            </a:r>
            <a:r>
              <a:rPr lang="en-GB" dirty="0" err="1">
                <a:solidFill>
                  <a:schemeClr val="bg1"/>
                </a:solidFill>
              </a:rPr>
              <a:t>ar</a:t>
            </a:r>
            <a:r>
              <a:rPr lang="en-GB" dirty="0">
                <a:solidFill>
                  <a:schemeClr val="bg1"/>
                </a:solidFill>
              </a:rPr>
              <a:t> fi: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Generator: </a:t>
            </a:r>
            <a:r>
              <a:rPr lang="en-GB" dirty="0" err="1">
                <a:solidFill>
                  <a:schemeClr val="bg1"/>
                </a:solidFill>
              </a:rPr>
              <a:t>Softmax</a:t>
            </a:r>
            <a:r>
              <a:rPr lang="en-GB" dirty="0">
                <a:solidFill>
                  <a:schemeClr val="bg1"/>
                </a:solidFill>
              </a:rPr>
              <a:t>, Identity, </a:t>
            </a:r>
            <a:r>
              <a:rPr lang="en-GB" dirty="0" err="1">
                <a:solidFill>
                  <a:schemeClr val="bg1"/>
                </a:solidFill>
              </a:rPr>
              <a:t>PReLU</a:t>
            </a:r>
            <a:endParaRPr lang="en-GB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1"/>
                </a:solidFill>
              </a:rPr>
              <a:t>Discriminator: Than, </a:t>
            </a:r>
            <a:r>
              <a:rPr lang="en-GB" dirty="0" err="1">
                <a:solidFill>
                  <a:schemeClr val="bg1"/>
                </a:solidFill>
              </a:rPr>
              <a:t>Softmax</a:t>
            </a:r>
            <a:r>
              <a:rPr lang="en-GB" dirty="0">
                <a:solidFill>
                  <a:schemeClr val="bg1"/>
                </a:solidFill>
              </a:rPr>
              <a:t>, Swish</a:t>
            </a:r>
          </a:p>
        </p:txBody>
      </p:sp>
    </p:spTree>
    <p:extLst>
      <p:ext uri="{BB962C8B-B14F-4D97-AF65-F5344CB8AC3E}">
        <p14:creationId xmlns:p14="http://schemas.microsoft.com/office/powerpoint/2010/main" val="209566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D267-E396-3D49-46DC-0EDDEE2E7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62037"/>
          </a:xfrm>
        </p:spPr>
        <p:txBody>
          <a:bodyPr/>
          <a:lstStyle/>
          <a:p>
            <a:r>
              <a:rPr lang="ro-RO" dirty="0">
                <a:solidFill>
                  <a:schemeClr val="bg1"/>
                </a:solidFill>
              </a:rPr>
              <a:t>Concluzii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E63340-B5DF-5668-D5A1-EE4CC5D71A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42033" y="2397035"/>
            <a:ext cx="790793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GAN-urile pot genera cifre scrise de mână real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Conditional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GAN oferă control asupra cifrei generate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Rezultatele obținute 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pot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confirm</a:t>
            </a:r>
            <a:r>
              <a:rPr kumimoji="0" lang="en-GB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eficiența abordării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Proiectul demonstrează aplicabilitatea GAN-urilor în generarea de imagini</a:t>
            </a:r>
          </a:p>
        </p:txBody>
      </p:sp>
    </p:spTree>
    <p:extLst>
      <p:ext uri="{BB962C8B-B14F-4D97-AF65-F5344CB8AC3E}">
        <p14:creationId xmlns:p14="http://schemas.microsoft.com/office/powerpoint/2010/main" val="415927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EABD-8634-F9D1-581F-07C7D4DF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2581275"/>
            <a:ext cx="10515600" cy="1325563"/>
          </a:xfrm>
        </p:spPr>
        <p:txBody>
          <a:bodyPr/>
          <a:lstStyle/>
          <a:p>
            <a:pPr algn="ctr"/>
            <a:r>
              <a:rPr lang="ro-RO" dirty="0">
                <a:solidFill>
                  <a:schemeClr val="bg1"/>
                </a:solidFill>
              </a:rPr>
              <a:t>Vă mulțumesc pentru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timpul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>
                <a:solidFill>
                  <a:schemeClr val="bg1"/>
                </a:solidFill>
              </a:rPr>
              <a:t>acordat</a:t>
            </a:r>
            <a:r>
              <a:rPr lang="ro-RO">
                <a:solidFill>
                  <a:schemeClr val="bg1"/>
                </a:solidFill>
              </a:rPr>
              <a:t>!</a:t>
            </a:r>
            <a:endParaRPr lang="ro-R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19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507</Words>
  <Application>Microsoft Office PowerPoint</Application>
  <PresentationFormat>Widescreen</PresentationFormat>
  <Paragraphs>101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Generarea cifrelor scrise de mână folosind GAN și Conditional GAN</vt:lpstr>
      <vt:lpstr>Motivația proiectului</vt:lpstr>
      <vt:lpstr>Problema abordată</vt:lpstr>
      <vt:lpstr>Ce reprezintă GAN?</vt:lpstr>
      <vt:lpstr>Conditional GAN (cGAN)</vt:lpstr>
      <vt:lpstr>Arhitectura modelului</vt:lpstr>
      <vt:lpstr>Implementare software</vt:lpstr>
      <vt:lpstr>Setul de date (MNIST)</vt:lpstr>
      <vt:lpstr>Experiment 1</vt:lpstr>
      <vt:lpstr>Experiment 2</vt:lpstr>
      <vt:lpstr>Experiment 3</vt:lpstr>
      <vt:lpstr>Spațiul latent</vt:lpstr>
      <vt:lpstr>Limitări</vt:lpstr>
      <vt:lpstr>Concluzii</vt:lpstr>
      <vt:lpstr>Vă mulțumesc pentru timpul acordat!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Dragos Gabriel Dunarintu</dc:creator>
  <cp:lastModifiedBy>Dragos Gabriel Dunarintu</cp:lastModifiedBy>
  <cp:revision>21</cp:revision>
  <dcterms:created xsi:type="dcterms:W3CDTF">2025-12-29T05:51:41Z</dcterms:created>
  <dcterms:modified xsi:type="dcterms:W3CDTF">2026-01-05T05:54:30Z</dcterms:modified>
</cp:coreProperties>
</file>